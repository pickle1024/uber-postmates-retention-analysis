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1A1A"/>
    <a:srgbClr val="FFD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67"/>
    <p:restoredTop sz="94721"/>
  </p:normalViewPr>
  <p:slideViewPr>
    <p:cSldViewPr snapToGrid="0" snapToObjects="1">
      <p:cViewPr>
        <p:scale>
          <a:sx n="83" d="100"/>
          <a:sy n="83" d="100"/>
        </p:scale>
        <p:origin x="792" y="1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00459" cy="514350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 flipV="1">
            <a:off x="688261" y="2150086"/>
            <a:ext cx="3684999" cy="45719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6821" y="2525741"/>
            <a:ext cx="8046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 dirty="0">
                <a:solidFill>
                  <a:srgbClr val="FFFFFF"/>
                </a:solidFill>
                <a:latin typeface="Arial"/>
              </a:rPr>
              <a:t>Postmates LA: Retention &amp; Frequency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6821" y="2989859"/>
            <a:ext cx="430928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 dirty="0">
                <a:solidFill>
                  <a:srgbClr val="888888"/>
                </a:solidFill>
                <a:latin typeface="Arial"/>
              </a:rPr>
              <a:t>Synthetic data with self-designed schema </a:t>
            </a:r>
          </a:p>
        </p:txBody>
      </p:sp>
      <p:sp>
        <p:nvSpPr>
          <p:cNvPr id="7" name="Rectangle 6"/>
          <p:cNvSpPr/>
          <p:nvPr/>
        </p:nvSpPr>
        <p:spPr>
          <a:xfrm>
            <a:off x="591899" y="4364487"/>
            <a:ext cx="8275320" cy="49377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8261" y="4437639"/>
            <a:ext cx="786384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 dirty="0">
                <a:solidFill>
                  <a:schemeClr val="bg1">
                    <a:lumMod val="85000"/>
                  </a:schemeClr>
                </a:solidFill>
                <a:latin typeface="Arial"/>
              </a:rPr>
              <a:t>Zoe Wang   ·   Strategy &amp; Operations Analyst Intern Mini Case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B651E6-012C-6769-48AB-90042F73E546}"/>
              </a:ext>
            </a:extLst>
          </p:cNvPr>
          <p:cNvSpPr txBox="1"/>
          <p:nvPr/>
        </p:nvSpPr>
        <p:spPr>
          <a:xfrm>
            <a:off x="591899" y="907900"/>
            <a:ext cx="818141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FFD100"/>
                </a:solidFill>
                <a:effectLst/>
                <a:latin typeface="-apple-system"/>
              </a:rPr>
              <a:t>Postmates gets</a:t>
            </a:r>
            <a:r>
              <a:rPr lang="en-US" sz="3600" b="1" dirty="0">
                <a:solidFill>
                  <a:srgbClr val="FFD100"/>
                </a:solidFill>
                <a:latin typeface="-apple-system"/>
              </a:rPr>
              <a:t> LA. </a:t>
            </a:r>
          </a:p>
          <a:p>
            <a:pPr algn="l"/>
            <a:r>
              <a:rPr lang="en-US" sz="2800" b="1" i="0" dirty="0">
                <a:solidFill>
                  <a:srgbClr val="FFFFFF"/>
                </a:solidFill>
                <a:effectLst/>
                <a:latin typeface="-apple-system"/>
              </a:rPr>
              <a:t>The business question is whether LA users come back.</a:t>
            </a:r>
            <a:endParaRPr sz="2800" b="0" i="0" dirty="0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47472" y="146304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FFD100"/>
                </a:solidFill>
                <a:latin typeface="Arial"/>
              </a:rPr>
              <a:t>THE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347472"/>
            <a:ext cx="84124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000000"/>
                </a:solidFill>
                <a:latin typeface="Arial"/>
              </a:rPr>
              <a:t>Postmates</a:t>
            </a:r>
            <a:r>
              <a:rPr lang="zh-CN" altLang="en-US" sz="2200" b="1" i="0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altLang="zh-CN" sz="2200" b="1" i="0" dirty="0">
                <a:solidFill>
                  <a:srgbClr val="000000"/>
                </a:solidFill>
                <a:latin typeface="Arial"/>
              </a:rPr>
              <a:t>must</a:t>
            </a:r>
            <a:r>
              <a:rPr lang="zh-CN" altLang="en-US" sz="2200" b="1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2200" b="1" i="0" dirty="0">
                <a:solidFill>
                  <a:srgbClr val="000000"/>
                </a:solidFill>
                <a:latin typeface="Arial"/>
              </a:rPr>
              <a:t>own repeat, not just reach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115568"/>
            <a:ext cx="8449056" cy="36576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47472" y="1261872"/>
            <a:ext cx="2724912" cy="164592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47472" y="1261872"/>
            <a:ext cx="2724912" cy="43891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1289304"/>
            <a:ext cx="2432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BRAND ROLE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" y="1773936"/>
            <a:ext cx="2432304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FFFFFF"/>
                </a:solidFill>
                <a:latin typeface="Arial"/>
              </a:rPr>
              <a:t>Independent challenger brand inside Uber Delivery. </a:t>
            </a:r>
            <a:endParaRPr lang="en-US" sz="1050" b="0" i="0" dirty="0">
              <a:solidFill>
                <a:srgbClr val="FFFFFF"/>
              </a:solidFill>
              <a:latin typeface="Arial"/>
            </a:endParaRPr>
          </a:p>
          <a:p>
            <a:pPr algn="l"/>
            <a:endParaRPr lang="en-US" sz="1050" b="0" i="0" dirty="0">
              <a:solidFill>
                <a:srgbClr val="FFFFFF"/>
              </a:solidFill>
              <a:latin typeface="Arial"/>
            </a:endParaRPr>
          </a:p>
          <a:p>
            <a:pPr algn="l"/>
            <a:r>
              <a:rPr sz="1050" b="0" i="0" dirty="0">
                <a:solidFill>
                  <a:srgbClr val="FFFFFF"/>
                </a:solidFill>
                <a:latin typeface="Arial"/>
              </a:rPr>
              <a:t>Must prove distinct </a:t>
            </a:r>
            <a:r>
              <a:rPr lang="en-CN" sz="1050" b="0" i="0" dirty="0">
                <a:solidFill>
                  <a:srgbClr val="FFFFFF"/>
                </a:solidFill>
                <a:latin typeface="Arial"/>
              </a:rPr>
              <a:t>value</a:t>
            </a:r>
            <a:r>
              <a:rPr lang="en-US" altLang="zh-CN" sz="1050" b="0" i="0" dirty="0">
                <a:solidFill>
                  <a:srgbClr val="FFFFFF"/>
                </a:solidFill>
                <a:latin typeface="Arial"/>
              </a:rPr>
              <a:t>,</a:t>
            </a:r>
            <a:r>
              <a:rPr lang="zh-CN" altLang="en-US" sz="105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050" b="0" i="0" dirty="0">
                <a:solidFill>
                  <a:srgbClr val="FFFFFF"/>
                </a:solidFill>
                <a:latin typeface="Arial"/>
              </a:rPr>
              <a:t>not just co-exist with Uber Eats.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91256" y="1261872"/>
            <a:ext cx="2724912" cy="164592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191256" y="1261872"/>
            <a:ext cx="2724912" cy="43891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37560" y="1289304"/>
            <a:ext cx="2432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S&amp;O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1773936"/>
            <a:ext cx="2432304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FFFFFF"/>
                </a:solidFill>
                <a:latin typeface="Arial"/>
              </a:rPr>
              <a:t>Move from brand awareness to repeat behavior. </a:t>
            </a:r>
            <a:endParaRPr lang="en-US" sz="1050" b="0" i="0" dirty="0">
              <a:solidFill>
                <a:srgbClr val="FFFFFF"/>
              </a:solidFill>
              <a:latin typeface="Arial"/>
            </a:endParaRPr>
          </a:p>
          <a:p>
            <a:pPr algn="l"/>
            <a:endParaRPr lang="en-US" sz="1050" b="0" i="0" dirty="0">
              <a:solidFill>
                <a:srgbClr val="FFFFFF"/>
              </a:solidFill>
              <a:latin typeface="Arial"/>
            </a:endParaRPr>
          </a:p>
          <a:p>
            <a:pPr algn="l"/>
            <a:r>
              <a:rPr lang="en-US" altLang="zh-CN" sz="1050" dirty="0">
                <a:solidFill>
                  <a:srgbClr val="FFFFFF"/>
                </a:solidFill>
                <a:latin typeface="Arial"/>
              </a:rPr>
              <a:t>T</a:t>
            </a:r>
            <a:r>
              <a:rPr sz="1050" b="0" i="0" dirty="0">
                <a:solidFill>
                  <a:srgbClr val="FFFFFF"/>
                </a:solidFill>
                <a:latin typeface="Arial"/>
              </a:rPr>
              <a:t>ranslate 'in the know' positioning into measurable, habitual ordering.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261872"/>
            <a:ext cx="2724912" cy="164592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35040" y="1261872"/>
            <a:ext cx="2724912" cy="43891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81344" y="1289304"/>
            <a:ext cx="2432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LA OPPORTUNITY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1344" y="1773936"/>
            <a:ext cx="2432304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FFFFFF"/>
                </a:solidFill>
                <a:latin typeface="Arial"/>
              </a:rPr>
              <a:t>LA's culture-driven, trend-sensitive audience is the ideal proving ground.</a:t>
            </a:r>
            <a:endParaRPr lang="en-US" sz="1050" b="0" i="0" dirty="0">
              <a:solidFill>
                <a:srgbClr val="FFFFFF"/>
              </a:solidFill>
              <a:latin typeface="Arial"/>
            </a:endParaRPr>
          </a:p>
          <a:p>
            <a:pPr algn="l"/>
            <a:endParaRPr lang="en-CN" sz="1050" dirty="0">
              <a:solidFill>
                <a:srgbClr val="FFFFFF"/>
              </a:solidFill>
              <a:latin typeface="Arial"/>
            </a:endParaRPr>
          </a:p>
          <a:p>
            <a:pPr algn="l"/>
            <a:r>
              <a:rPr sz="1050" b="0" i="0" dirty="0">
                <a:solidFill>
                  <a:srgbClr val="FFFFFF"/>
                </a:solidFill>
                <a:latin typeface="Arial"/>
              </a:rPr>
              <a:t>Local merchants + </a:t>
            </a:r>
            <a:r>
              <a:rPr lang="en-US" altLang="zh-CN" sz="1050" dirty="0">
                <a:solidFill>
                  <a:srgbClr val="FFFFFF"/>
                </a:solidFill>
                <a:latin typeface="Arial"/>
              </a:rPr>
              <a:t>cultural</a:t>
            </a:r>
            <a:r>
              <a:rPr lang="zh-CN" altLang="en-US" sz="1050" dirty="0">
                <a:solidFill>
                  <a:srgbClr val="FFFFFF"/>
                </a:solidFill>
                <a:latin typeface="Arial"/>
              </a:rPr>
              <a:t> </a:t>
            </a:r>
            <a:r>
              <a:rPr lang="en-US" altLang="zh-CN" sz="1050" dirty="0">
                <a:solidFill>
                  <a:srgbClr val="FFFFFF"/>
                </a:solidFill>
                <a:latin typeface="Arial"/>
              </a:rPr>
              <a:t>relevance</a:t>
            </a:r>
            <a:r>
              <a:rPr sz="105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lang="en-US" altLang="zh-CN" sz="1050" dirty="0">
                <a:solidFill>
                  <a:srgbClr val="FFFFFF"/>
                </a:solidFill>
                <a:latin typeface="Arial"/>
              </a:rPr>
              <a:t>may</a:t>
            </a:r>
            <a:r>
              <a:rPr lang="zh-CN" altLang="en-US" sz="1050" dirty="0">
                <a:solidFill>
                  <a:srgbClr val="FFFFFF"/>
                </a:solidFill>
                <a:latin typeface="Arial"/>
              </a:rPr>
              <a:t> </a:t>
            </a:r>
            <a:r>
              <a:rPr lang="en-US" altLang="zh-CN" sz="1050" dirty="0">
                <a:solidFill>
                  <a:srgbClr val="FFFFFF"/>
                </a:solidFill>
                <a:latin typeface="Arial"/>
              </a:rPr>
              <a:t>create</a:t>
            </a:r>
            <a:r>
              <a:rPr lang="zh-CN" altLang="en-US" sz="1050" dirty="0">
                <a:solidFill>
                  <a:srgbClr val="FFFFFF"/>
                </a:solidFill>
                <a:latin typeface="Arial"/>
              </a:rPr>
              <a:t> </a:t>
            </a:r>
            <a:r>
              <a:rPr lang="en-US" altLang="zh-CN" sz="1050" dirty="0">
                <a:solidFill>
                  <a:srgbClr val="FFFFFF"/>
                </a:solidFill>
                <a:latin typeface="Arial"/>
              </a:rPr>
              <a:t>a</a:t>
            </a:r>
            <a:r>
              <a:rPr lang="zh-CN" altLang="en-US" sz="1050" dirty="0">
                <a:solidFill>
                  <a:srgbClr val="FFFFFF"/>
                </a:solidFill>
                <a:latin typeface="Arial"/>
              </a:rPr>
              <a:t> </a:t>
            </a:r>
            <a:r>
              <a:rPr lang="en-US" altLang="zh-CN" sz="1050" dirty="0">
                <a:solidFill>
                  <a:srgbClr val="FFFFFF"/>
                </a:solidFill>
                <a:latin typeface="Arial"/>
              </a:rPr>
              <a:t>repeat</a:t>
            </a:r>
            <a:r>
              <a:rPr lang="zh-CN" altLang="en-US" sz="1050" dirty="0">
                <a:solidFill>
                  <a:srgbClr val="FFFFFF"/>
                </a:solidFill>
                <a:latin typeface="Arial"/>
              </a:rPr>
              <a:t> </a:t>
            </a:r>
            <a:r>
              <a:rPr lang="en-US" altLang="zh-CN" sz="1050" dirty="0">
                <a:solidFill>
                  <a:srgbClr val="FFFFFF"/>
                </a:solidFill>
                <a:latin typeface="Arial"/>
              </a:rPr>
              <a:t>advantage.</a:t>
            </a:r>
            <a:endParaRPr sz="1050" b="0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47472" y="3098072"/>
            <a:ext cx="8449056" cy="66468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5488" y="3263632"/>
            <a:ext cx="8138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1" dirty="0">
                <a:solidFill>
                  <a:srgbClr val="000000"/>
                </a:solidFill>
                <a:latin typeface="Arial"/>
              </a:rPr>
              <a:t>Core question: Does Postmates' differentiated merchant mix actually drive higher repeat behavior in LA?</a:t>
            </a:r>
            <a:endParaRPr sz="12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56616" y="4027932"/>
            <a:ext cx="8449056" cy="70125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3776" y="4140490"/>
            <a:ext cx="8229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100" dirty="0">
                <a:solidFill>
                  <a:srgbClr val="DEDBD4"/>
                </a:solidFill>
                <a:latin typeface="Arial"/>
              </a:rPr>
              <a:t>Analytical</a:t>
            </a:r>
            <a:r>
              <a:rPr lang="zh-CN" altLang="en-US" sz="1100" dirty="0">
                <a:solidFill>
                  <a:srgbClr val="DEDBD4"/>
                </a:solidFill>
                <a:latin typeface="Arial"/>
              </a:rPr>
              <a:t> </a:t>
            </a:r>
            <a:r>
              <a:rPr lang="en-US" altLang="zh-CN" sz="1100" dirty="0">
                <a:solidFill>
                  <a:srgbClr val="DEDBD4"/>
                </a:solidFill>
                <a:latin typeface="Arial"/>
              </a:rPr>
              <a:t>scope</a:t>
            </a:r>
          </a:p>
          <a:p>
            <a:pPr algn="l"/>
            <a:r>
              <a:rPr sz="1100" b="0" i="0" dirty="0">
                <a:solidFill>
                  <a:srgbClr val="DEDBD4"/>
                </a:solidFill>
                <a:latin typeface="Arial"/>
              </a:rPr>
              <a:t>cohort retention  ·  segment behavior  ·  merchant mix  ·  promo dependency  ·  delivery experience  ·  social signal framework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47472" y="146304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FFD100"/>
                </a:solidFill>
                <a:latin typeface="Arial"/>
              </a:rPr>
              <a:t>EXECUTIVE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347472"/>
            <a:ext cx="857530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000000"/>
                </a:solidFill>
                <a:latin typeface="Arial"/>
              </a:rPr>
              <a:t>Growth is accelerating —</a:t>
            </a:r>
            <a:r>
              <a:rPr lang="zh-CN" altLang="en-US" sz="2200" b="1" i="0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altLang="zh-CN" sz="2200" b="1" i="0" dirty="0">
                <a:solidFill>
                  <a:srgbClr val="000000"/>
                </a:solidFill>
                <a:latin typeface="Arial"/>
              </a:rPr>
              <a:t>but</a:t>
            </a:r>
            <a:r>
              <a:rPr sz="2200" b="1" i="0" dirty="0">
                <a:solidFill>
                  <a:srgbClr val="000000"/>
                </a:solidFill>
                <a:latin typeface="Arial"/>
              </a:rPr>
              <a:t> repeat quality</a:t>
            </a:r>
            <a:r>
              <a:rPr lang="zh-CN" altLang="en-US" sz="2200" b="1" i="0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altLang="zh-CN" sz="2200" b="1" i="0" dirty="0">
                <a:solidFill>
                  <a:srgbClr val="000000"/>
                </a:solidFill>
                <a:latin typeface="Arial"/>
              </a:rPr>
              <a:t>is</a:t>
            </a:r>
            <a:r>
              <a:rPr lang="zh-CN" altLang="en-US" sz="2200" b="1" i="0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altLang="zh-CN" sz="2200" b="1" i="0" dirty="0">
                <a:solidFill>
                  <a:srgbClr val="000000"/>
                </a:solidFill>
                <a:latin typeface="Arial"/>
              </a:rPr>
              <a:t>still</a:t>
            </a:r>
            <a:r>
              <a:rPr lang="zh-CN" altLang="en-US" sz="2200" b="1" i="0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altLang="zh-CN" sz="2200" b="1" i="0" dirty="0">
                <a:solidFill>
                  <a:srgbClr val="000000"/>
                </a:solidFill>
                <a:latin typeface="Arial"/>
              </a:rPr>
              <a:t>the</a:t>
            </a:r>
            <a:r>
              <a:rPr lang="zh-CN" altLang="en-US" sz="2200" b="1" i="0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altLang="zh-CN" sz="2200" b="1" i="0" dirty="0">
                <a:solidFill>
                  <a:srgbClr val="000000"/>
                </a:solidFill>
                <a:latin typeface="Arial"/>
              </a:rPr>
              <a:t>question</a:t>
            </a:r>
            <a:endParaRPr sz="2200" b="1" i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47472" y="1115568"/>
            <a:ext cx="8449056" cy="36576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261872"/>
            <a:ext cx="5120640" cy="2834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50992" y="1261872"/>
            <a:ext cx="3127248" cy="80467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42431" y="1298448"/>
            <a:ext cx="29443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D100"/>
                </a:solidFill>
                <a:latin typeface="Arial"/>
              </a:rPr>
              <a:t>1.72×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42431" y="1810512"/>
            <a:ext cx="2944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Arial"/>
              </a:rPr>
              <a:t>avg orders / user (LA avg)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50992" y="2167128"/>
            <a:ext cx="3127248" cy="80467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42431" y="2203704"/>
            <a:ext cx="29443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D100"/>
                </a:solidFill>
                <a:latin typeface="Arial"/>
              </a:rPr>
              <a:t>41%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42431" y="2715768"/>
            <a:ext cx="2944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Arial"/>
              </a:rPr>
              <a:t>promo order share (↓ declining)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50992" y="3072384"/>
            <a:ext cx="3127248" cy="80467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742431" y="3108960"/>
            <a:ext cx="29443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D100"/>
                </a:solidFill>
                <a:latin typeface="Arial"/>
              </a:rPr>
              <a:t>$23.1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42431" y="3621024"/>
            <a:ext cx="2944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Arial"/>
              </a:rPr>
              <a:t>avg order value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" y="4224528"/>
            <a:ext cx="8449056" cy="56692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2064" y="4306824"/>
            <a:ext cx="767329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rgbClr val="FFD100"/>
                </a:solidFill>
                <a:latin typeface="Arial"/>
              </a:rPr>
              <a:t>Topline growth is healthy, but at 41% promo mix, repeat quality deserves scrutiny. The next question is who comes back.</a:t>
            </a:r>
            <a:r>
              <a:rPr lang="en-US" sz="1100" b="1" i="0" dirty="0">
                <a:solidFill>
                  <a:srgbClr val="0D0D0D"/>
                </a:solidFill>
                <a:effectLst/>
                <a:latin typeface="-apple-system"/>
              </a:rPr>
              <a:t> </a:t>
            </a:r>
            <a:endParaRPr sz="1100" b="1" dirty="0">
              <a:solidFill>
                <a:srgbClr val="FFD1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47472" y="146304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00"/>
                </a:solidFill>
                <a:latin typeface="Arial"/>
              </a:rPr>
              <a:t>RETENTION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347472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Arial"/>
              </a:rPr>
              <a:t>The biggest opportunity: turning first orders into habits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115568"/>
            <a:ext cx="8449056" cy="36576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261872"/>
            <a:ext cx="3474720" cy="283464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1261872"/>
            <a:ext cx="2834640" cy="28346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912864" y="1261872"/>
            <a:ext cx="1883664" cy="283464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22592" y="1316736"/>
            <a:ext cx="16642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D100"/>
                </a:solidFill>
                <a:latin typeface="Arial"/>
              </a:rPr>
              <a:t>OPPORTUNITY
SIZING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22592" y="1625019"/>
            <a:ext cx="166420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 dirty="0">
                <a:solidFill>
                  <a:schemeClr val="bg1"/>
                </a:solidFill>
                <a:latin typeface="Arial"/>
              </a:rPr>
              <a:t>one-time users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22592" y="1859280"/>
            <a:ext cx="1664208" cy="31089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59168" y="1864940"/>
            <a:ext cx="1591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873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22592" y="2174094"/>
            <a:ext cx="166420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800" b="0" i="0">
                <a:solidFill>
                  <a:schemeClr val="bg1"/>
                </a:solidFill>
                <a:latin typeface="Arial"/>
              </a:defRPr>
            </a:lvl1pPr>
          </a:lstStyle>
          <a:p>
            <a:r>
              <a:rPr dirty="0"/>
              <a:t>× 20% convert to 2nd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22592" y="2430125"/>
            <a:ext cx="1664208" cy="51903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49440" y="2456716"/>
            <a:ext cx="173736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>
                <a:solidFill>
                  <a:srgbClr val="000000"/>
                </a:solidFill>
                <a:latin typeface="Arial"/>
              </a:rPr>
              <a:t>= 175</a:t>
            </a:r>
            <a:endParaRPr lang="en-US" sz="1300" b="1" i="0" dirty="0">
              <a:solidFill>
                <a:srgbClr val="000000"/>
              </a:solidFill>
              <a:latin typeface="Arial"/>
            </a:endParaRPr>
          </a:p>
          <a:p>
            <a:pPr algn="ctr"/>
            <a:r>
              <a:rPr lang="en-US" altLang="zh-CN" sz="1300" b="1" dirty="0">
                <a:solidFill>
                  <a:srgbClr val="000000"/>
                </a:solidFill>
                <a:latin typeface="Arial"/>
              </a:rPr>
              <a:t>Incremental</a:t>
            </a:r>
            <a:r>
              <a:rPr lang="zh-CN" altLang="en-US" sz="1300" b="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altLang="zh-CN" sz="1300" b="1" dirty="0">
                <a:solidFill>
                  <a:srgbClr val="000000"/>
                </a:solidFill>
                <a:latin typeface="Arial"/>
              </a:rPr>
              <a:t>Orders</a:t>
            </a:r>
            <a:endParaRPr sz="1300" b="1" i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022592" y="3143355"/>
            <a:ext cx="1664208" cy="58966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22592" y="3224851"/>
            <a:ext cx="159105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>
                <a:solidFill>
                  <a:srgbClr val="000000"/>
                </a:solidFill>
                <a:latin typeface="Arial"/>
              </a:rPr>
              <a:t>≈ $</a:t>
            </a:r>
            <a:r>
              <a:rPr lang="zh-CN" altLang="en-US" sz="1300" b="1" i="0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altLang="zh-CN" sz="1300" b="1" dirty="0">
                <a:solidFill>
                  <a:srgbClr val="000000"/>
                </a:solidFill>
                <a:latin typeface="Arial"/>
              </a:rPr>
              <a:t>4.0</a:t>
            </a:r>
            <a:r>
              <a:rPr sz="1300" b="1" i="0" dirty="0">
                <a:solidFill>
                  <a:srgbClr val="000000"/>
                </a:solidFill>
                <a:latin typeface="Arial"/>
              </a:rPr>
              <a:t>K</a:t>
            </a:r>
            <a:r>
              <a:rPr lang="zh-CN" altLang="en-US" sz="1300" b="1" i="0" dirty="0">
                <a:solidFill>
                  <a:srgbClr val="000000"/>
                </a:solidFill>
                <a:latin typeface="Arial"/>
              </a:rPr>
              <a:t> </a:t>
            </a:r>
            <a:endParaRPr lang="en-US" altLang="zh-CN" sz="1300" b="1" i="0" dirty="0">
              <a:solidFill>
                <a:srgbClr val="000000"/>
              </a:solidFill>
              <a:latin typeface="Arial"/>
            </a:endParaRPr>
          </a:p>
          <a:p>
            <a:pPr algn="ctr"/>
            <a:r>
              <a:rPr lang="en-US" altLang="zh-CN" sz="1300" b="1" i="0" dirty="0">
                <a:solidFill>
                  <a:srgbClr val="000000"/>
                </a:solidFill>
                <a:latin typeface="Arial"/>
              </a:rPr>
              <a:t>Incremental</a:t>
            </a:r>
            <a:r>
              <a:rPr lang="zh-CN" altLang="en-US" sz="1300" b="1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300" b="1" i="0" dirty="0">
                <a:solidFill>
                  <a:srgbClr val="000000"/>
                </a:solidFill>
                <a:latin typeface="Arial"/>
              </a:rPr>
              <a:t>GMV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" y="4224528"/>
            <a:ext cx="8449056" cy="56692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12064" y="4306824"/>
            <a:ext cx="811987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1" dirty="0">
                <a:solidFill>
                  <a:srgbClr val="FFD100"/>
                </a:solidFill>
                <a:latin typeface="Arial"/>
              </a:rPr>
              <a:t>One-time users are the clearest retention leak in LA.  Converting 20% of them to a second order would add ~175 orders and ~$4.0K GMV.</a:t>
            </a:r>
            <a:endParaRPr sz="1100" b="1" dirty="0">
              <a:solidFill>
                <a:srgbClr val="FFD1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47472" y="146304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00"/>
                </a:solidFill>
                <a:latin typeface="Arial"/>
              </a:rPr>
              <a:t>BRAND →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347472"/>
            <a:ext cx="84124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dirty="0">
                <a:solidFill>
                  <a:srgbClr val="0D0D0D"/>
                </a:solidFill>
                <a:effectLst/>
                <a:latin typeface="-apple-system"/>
              </a:rPr>
              <a:t>'In the Know' is measurable: local + trend merchants show the strongest repeat behavior</a:t>
            </a:r>
            <a:endParaRPr sz="2200" b="1" i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47472" y="1115568"/>
            <a:ext cx="8449056" cy="36576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261872"/>
            <a:ext cx="8449056" cy="2834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47472" y="4224528"/>
            <a:ext cx="8449056" cy="56692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4281813"/>
            <a:ext cx="811987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1" dirty="0">
                <a:solidFill>
                  <a:srgbClr val="FFD100"/>
                </a:solidFill>
                <a:latin typeface="Arial"/>
              </a:rPr>
              <a:t>Postmates’ “in the know” positioning shows behavioral proof: local + trend merchants lead the repeat chart. Curated supply looks like a key retention lever in LA.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47472" y="146304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FFD100"/>
                </a:solidFill>
                <a:latin typeface="Arial"/>
              </a:rPr>
              <a:t>RISKS +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1" y="347472"/>
            <a:ext cx="86637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dirty="0">
                <a:solidFill>
                  <a:srgbClr val="0D0D0D"/>
                </a:solidFill>
                <a:effectLst/>
                <a:latin typeface="-apple-system"/>
              </a:rPr>
              <a:t>Two growth quality risks — and one realistic retention opportunity</a:t>
            </a:r>
            <a:endParaRPr sz="2200" b="1" i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47472" y="1115568"/>
            <a:ext cx="8449056" cy="36576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261872"/>
            <a:ext cx="3383280" cy="265176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261872"/>
            <a:ext cx="3383280" cy="2651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406640" y="1261872"/>
            <a:ext cx="1389888" cy="265176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61504" y="1335024"/>
            <a:ext cx="128016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N" sz="800" b="1" i="0" dirty="0">
                <a:solidFill>
                  <a:srgbClr val="FFD100"/>
                </a:solidFill>
                <a:latin typeface="Arial"/>
              </a:rPr>
              <a:t>SCENARIO</a:t>
            </a:r>
            <a:endParaRPr sz="800" b="1" i="0" dirty="0">
              <a:solidFill>
                <a:srgbClr val="FFD100"/>
              </a:solidFill>
              <a:latin typeface="Arial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461504" y="2321441"/>
            <a:ext cx="1280160" cy="59436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E129AAB-2BC1-53E2-F1BD-2F9F8AFE3E44}"/>
              </a:ext>
            </a:extLst>
          </p:cNvPr>
          <p:cNvGrpSpPr/>
          <p:nvPr/>
        </p:nvGrpSpPr>
        <p:grpSpPr>
          <a:xfrm>
            <a:off x="7351776" y="2292759"/>
            <a:ext cx="1280160" cy="650872"/>
            <a:chOff x="7461504" y="1638952"/>
            <a:chExt cx="1280160" cy="650872"/>
          </a:xfrm>
        </p:grpSpPr>
        <p:sp>
          <p:nvSpPr>
            <p:cNvPr id="11" name="TextBox 10"/>
            <p:cNvSpPr txBox="1"/>
            <p:nvPr/>
          </p:nvSpPr>
          <p:spPr>
            <a:xfrm>
              <a:off x="7461504" y="1638952"/>
              <a:ext cx="1280160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3000" b="1" i="0" dirty="0">
                  <a:solidFill>
                    <a:srgbClr val="000000"/>
                  </a:solidFill>
                  <a:latin typeface="Arial"/>
                </a:rPr>
                <a:t>+</a:t>
              </a:r>
              <a:r>
                <a:rPr lang="en-US" altLang="zh-CN" sz="3000" b="1" dirty="0">
                  <a:solidFill>
                    <a:srgbClr val="000000"/>
                  </a:solidFill>
                  <a:latin typeface="Arial"/>
                </a:rPr>
                <a:t>175</a:t>
              </a:r>
              <a:endParaRPr sz="3000" b="1" i="0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461504" y="2074380"/>
              <a:ext cx="1280160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800" dirty="0">
                  <a:solidFill>
                    <a:srgbClr val="000000"/>
                  </a:solidFill>
                  <a:latin typeface="Arial"/>
                </a:rPr>
                <a:t>I</a:t>
              </a:r>
              <a:r>
                <a:rPr lang="en-CN" sz="800" dirty="0">
                  <a:solidFill>
                    <a:srgbClr val="000000"/>
                  </a:solidFill>
                  <a:latin typeface="Arial"/>
                </a:rPr>
                <a:t>ncremental</a:t>
              </a:r>
              <a:r>
                <a:rPr lang="zh-CN" altLang="en-US" sz="800" dirty="0">
                  <a:solidFill>
                    <a:srgbClr val="000000"/>
                  </a:solidFill>
                  <a:latin typeface="Arial"/>
                </a:rPr>
                <a:t> </a:t>
              </a:r>
              <a:r>
                <a:rPr lang="en-US" altLang="zh-CN" sz="800" dirty="0">
                  <a:solidFill>
                    <a:srgbClr val="000000"/>
                  </a:solidFill>
                  <a:latin typeface="Arial"/>
                </a:rPr>
                <a:t>orders</a:t>
              </a:r>
              <a:endParaRPr sz="800" b="0" i="0" dirty="0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23B1C82-8E32-9F6F-B7F2-140A6681A727}"/>
              </a:ext>
            </a:extLst>
          </p:cNvPr>
          <p:cNvGrpSpPr/>
          <p:nvPr/>
        </p:nvGrpSpPr>
        <p:grpSpPr>
          <a:xfrm>
            <a:off x="7498080" y="1612619"/>
            <a:ext cx="1261872" cy="640080"/>
            <a:chOff x="7479792" y="2423160"/>
            <a:chExt cx="1261872" cy="640080"/>
          </a:xfrm>
        </p:grpSpPr>
        <p:sp>
          <p:nvSpPr>
            <p:cNvPr id="13" name="TextBox 12"/>
            <p:cNvSpPr txBox="1"/>
            <p:nvPr/>
          </p:nvSpPr>
          <p:spPr>
            <a:xfrm>
              <a:off x="7479792" y="2423160"/>
              <a:ext cx="1261872" cy="2377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50" b="0" i="0" dirty="0">
                  <a:solidFill>
                    <a:srgbClr val="FFFFFF"/>
                  </a:solidFill>
                  <a:latin typeface="Arial"/>
                </a:rPr>
                <a:t>if 20% of one-time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479792" y="2624328"/>
              <a:ext cx="1261872" cy="2377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50" b="0" i="0" dirty="0">
                  <a:solidFill>
                    <a:srgbClr val="FFFFFF"/>
                  </a:solidFill>
                  <a:latin typeface="Arial"/>
                </a:rPr>
                <a:t>users convert to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479792" y="2825496"/>
              <a:ext cx="1261872" cy="2377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850" b="0" i="0">
                  <a:solidFill>
                    <a:srgbClr val="FFFFFF"/>
                  </a:solidFill>
                  <a:latin typeface="Arial"/>
                </a:rPr>
                <a:t>a 2nd order</a:t>
              </a: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7479792" y="3026664"/>
            <a:ext cx="12618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79792" y="3135068"/>
            <a:ext cx="12618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FFD100"/>
                </a:solidFill>
                <a:latin typeface="Arial"/>
              </a:rPr>
              <a:t>= ~</a:t>
            </a:r>
            <a:r>
              <a:rPr lang="en-CN" sz="1200" b="1" i="0" dirty="0">
                <a:solidFill>
                  <a:srgbClr val="FFD100"/>
                </a:solidFill>
                <a:latin typeface="Arial"/>
              </a:rPr>
              <a:t>$</a:t>
            </a:r>
            <a:r>
              <a:rPr lang="zh-CN" altLang="en-US" sz="1200" b="1" i="0" dirty="0">
                <a:solidFill>
                  <a:srgbClr val="FFD100"/>
                </a:solidFill>
                <a:latin typeface="Arial"/>
              </a:rPr>
              <a:t> </a:t>
            </a:r>
            <a:r>
              <a:rPr lang="en-US" altLang="zh-CN" sz="1200" b="1" i="0" dirty="0">
                <a:solidFill>
                  <a:srgbClr val="FFD100"/>
                </a:solidFill>
                <a:latin typeface="Arial"/>
              </a:rPr>
              <a:t>4</a:t>
            </a:r>
            <a:r>
              <a:rPr lang="zh-CN" altLang="en-US" sz="1200" b="1" i="0" dirty="0">
                <a:solidFill>
                  <a:srgbClr val="FFD100"/>
                </a:solidFill>
                <a:latin typeface="Arial"/>
              </a:rPr>
              <a:t> </a:t>
            </a:r>
            <a:r>
              <a:rPr sz="1200" b="1" i="0" dirty="0">
                <a:solidFill>
                  <a:srgbClr val="FFD100"/>
                </a:solidFill>
                <a:latin typeface="Arial"/>
              </a:rPr>
              <a:t>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79792" y="3402496"/>
            <a:ext cx="12618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dirty="0">
                <a:solidFill>
                  <a:srgbClr val="FFFFFF"/>
                </a:solidFill>
                <a:latin typeface="Arial"/>
              </a:rPr>
              <a:t>incremental GMV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" y="4224528"/>
            <a:ext cx="8449056" cy="56692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2064" y="4277536"/>
            <a:ext cx="811987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1" dirty="0">
                <a:solidFill>
                  <a:srgbClr val="FFD100"/>
                </a:solidFill>
                <a:latin typeface="Arial"/>
              </a:rPr>
              <a:t>High promo dependency appears lower quality. The more durable upside is improving second-order conversion through discovery-led retention, not heavier discounting.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47472" y="146304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FFD100"/>
                </a:solidFill>
                <a:latin typeface="Arial"/>
              </a:rPr>
              <a:t>SOCIAL SIGNAL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347472"/>
            <a:ext cx="84124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dirty="0">
                <a:solidFill>
                  <a:srgbClr val="0D0D0D"/>
                </a:solidFill>
                <a:effectLst/>
                <a:latin typeface="-apple-system"/>
              </a:rPr>
              <a:t>Can social buzz act as an early demand signal for local merchant curation?</a:t>
            </a:r>
            <a:endParaRPr sz="2200" b="1" i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47472" y="1115568"/>
            <a:ext cx="8449056" cy="36576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47472" y="1261872"/>
            <a:ext cx="2724912" cy="2667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47472" y="1261872"/>
            <a:ext cx="2724912" cy="475488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" y="1280160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307592"/>
            <a:ext cx="206654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1" i="0" dirty="0">
                <a:solidFill>
                  <a:srgbClr val="000000"/>
                </a:solidFill>
                <a:latin typeface="Arial"/>
              </a:rPr>
              <a:t>INPUT SIGNALS</a:t>
            </a:r>
            <a:endParaRPr sz="1100" b="1" i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5488" y="1892807"/>
            <a:ext cx="64008" cy="64008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4" y="1804896"/>
            <a:ext cx="23408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CN" sz="900" b="0" i="0" dirty="0">
                <a:solidFill>
                  <a:srgbClr val="FFFFFF"/>
                </a:solidFill>
                <a:latin typeface="Arial"/>
              </a:rPr>
              <a:t>Social</a:t>
            </a:r>
            <a:r>
              <a:rPr lang="zh-CN" altLang="en-US" sz="90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lang="en-US" altLang="zh-CN" sz="900" b="0" i="0" dirty="0">
                <a:solidFill>
                  <a:srgbClr val="FFFFFF"/>
                </a:solidFill>
                <a:latin typeface="Arial"/>
              </a:rPr>
              <a:t>velocity</a:t>
            </a:r>
            <a:endParaRPr sz="900" b="0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95487" y="1940889"/>
            <a:ext cx="202888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FFFFFF"/>
                </a:solidFill>
                <a:latin typeface="Arial"/>
              </a:rPr>
              <a:t>Creator + influencer buzz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4412" y="2464094"/>
            <a:ext cx="64008" cy="64008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1991" y="2067314"/>
            <a:ext cx="1650439" cy="228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FFFFFF"/>
                </a:solidFill>
                <a:latin typeface="Arial"/>
              </a:rPr>
              <a:t>Hashtag </a:t>
            </a:r>
            <a:r>
              <a:rPr lang="en-CN" sz="900" dirty="0">
                <a:solidFill>
                  <a:srgbClr val="FFFFFF"/>
                </a:solidFill>
                <a:latin typeface="Arial"/>
              </a:rPr>
              <a:t>acceleration</a:t>
            </a:r>
            <a:endParaRPr sz="900" b="0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83556" y="2969728"/>
            <a:ext cx="64008" cy="64008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1572" y="2383726"/>
            <a:ext cx="23408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 dirty="0">
                <a:solidFill>
                  <a:srgbClr val="FFFFFF"/>
                </a:solidFill>
                <a:latin typeface="Arial"/>
              </a:rPr>
              <a:t>Local </a:t>
            </a:r>
            <a:r>
              <a:rPr lang="en-CN" sz="900" dirty="0">
                <a:solidFill>
                  <a:srgbClr val="FFFFFF"/>
                </a:solidFill>
                <a:latin typeface="Arial"/>
              </a:rPr>
              <a:t>relevance</a:t>
            </a:r>
            <a:endParaRPr sz="900" b="0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11572" y="2885893"/>
            <a:ext cx="23408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CN" sz="900" dirty="0">
                <a:solidFill>
                  <a:srgbClr val="FFFFFF"/>
                </a:solidFill>
                <a:latin typeface="Arial"/>
              </a:rPr>
              <a:t>Merchant</a:t>
            </a:r>
            <a:r>
              <a:rPr lang="zh-CN" altLang="en-US" sz="900" dirty="0">
                <a:solidFill>
                  <a:srgbClr val="FFFFFF"/>
                </a:solidFill>
                <a:latin typeface="Arial"/>
              </a:rPr>
              <a:t> </a:t>
            </a:r>
            <a:r>
              <a:rPr lang="en-US" altLang="zh-CN" sz="900" dirty="0">
                <a:solidFill>
                  <a:srgbClr val="FFFFFF"/>
                </a:solidFill>
                <a:latin typeface="Arial"/>
              </a:rPr>
              <a:t>emergence</a:t>
            </a:r>
            <a:endParaRPr sz="900" b="0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75488" y="3494315"/>
            <a:ext cx="2468880" cy="273013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0352" y="3494315"/>
            <a:ext cx="25968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 dirty="0">
                <a:solidFill>
                  <a:schemeClr val="bg1"/>
                </a:solidFill>
                <a:latin typeface="Arial"/>
              </a:rPr>
              <a:t>Aggregated via dedicated
social listening tools</a:t>
            </a:r>
            <a:r>
              <a:rPr lang="zh-CN" altLang="en-US" sz="800" b="0" i="1" dirty="0">
                <a:solidFill>
                  <a:schemeClr val="bg1"/>
                </a:solidFill>
                <a:latin typeface="Arial"/>
              </a:rPr>
              <a:t> </a:t>
            </a:r>
            <a:r>
              <a:rPr sz="800" b="0" i="1" dirty="0">
                <a:solidFill>
                  <a:schemeClr val="bg1"/>
                </a:solidFill>
                <a:latin typeface="Arial"/>
              </a:rPr>
              <a:t>(</a:t>
            </a:r>
            <a:r>
              <a:rPr sz="800" b="0" i="1" dirty="0" err="1">
                <a:solidFill>
                  <a:schemeClr val="bg1"/>
                </a:solidFill>
                <a:latin typeface="Arial"/>
              </a:rPr>
              <a:t>Brandwatch</a:t>
            </a:r>
            <a:r>
              <a:rPr sz="800" b="0" i="1" dirty="0">
                <a:solidFill>
                  <a:schemeClr val="bg1"/>
                </a:solidFill>
                <a:latin typeface="Arial"/>
              </a:rPr>
              <a:t>, Sprout Social)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82112" y="1261872"/>
            <a:ext cx="2724912" cy="2667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182112" y="1261872"/>
            <a:ext cx="2724912" cy="475488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310128" y="1280160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12463" y="1307592"/>
            <a:ext cx="206654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ANALYTICAL LAYER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10128" y="1892807"/>
            <a:ext cx="64008" cy="64008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372408" y="1816848"/>
            <a:ext cx="24553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dirty="0">
                <a:solidFill>
                  <a:srgbClr val="FFFFFF"/>
                </a:solidFill>
                <a:latin typeface="Arial"/>
              </a:rPr>
              <a:t>lead-lag analysis:</a:t>
            </a:r>
            <a:r>
              <a:rPr lang="en-US" sz="900" b="0" i="0" dirty="0">
                <a:solidFill>
                  <a:srgbClr val="FFFFFF"/>
                </a:solidFill>
                <a:latin typeface="Arial"/>
              </a:rPr>
              <a:t>
</a:t>
            </a:r>
            <a:r>
              <a:rPr lang="zh-CN" altLang="en-US" sz="900" b="0" i="0" dirty="0">
                <a:solidFill>
                  <a:srgbClr val="FFFFFF"/>
                </a:solidFill>
                <a:latin typeface="Arial"/>
              </a:rPr>
              <a:t>  </a:t>
            </a:r>
            <a:r>
              <a:rPr lang="en-US" sz="900" b="0" i="0" dirty="0">
                <a:solidFill>
                  <a:srgbClr val="FFFFFF"/>
                </a:solidFill>
                <a:latin typeface="Arial"/>
              </a:rPr>
              <a:t>Does</a:t>
            </a:r>
            <a:r>
              <a:rPr lang="zh-CN" altLang="en-US" sz="90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lang="en-US" sz="900" dirty="0">
                <a:solidFill>
                  <a:srgbClr val="FFFFFF"/>
                </a:solidFill>
                <a:latin typeface="Arial"/>
              </a:rPr>
              <a:t>buzz precede demand by 3–7 days?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10128" y="2258568"/>
            <a:ext cx="64008" cy="64008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373117" y="2177251"/>
            <a:ext cx="244573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CN" sz="900" b="0" i="0" dirty="0">
                <a:solidFill>
                  <a:srgbClr val="FFFFFF"/>
                </a:solidFill>
                <a:latin typeface="Arial"/>
              </a:rPr>
              <a:t>Signal</a:t>
            </a:r>
            <a:r>
              <a:rPr lang="zh-CN" altLang="en-US" sz="90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lang="en-US" altLang="zh-CN" sz="900" b="0" i="0" dirty="0">
                <a:solidFill>
                  <a:srgbClr val="FFFFFF"/>
                </a:solidFill>
                <a:latin typeface="Arial"/>
              </a:rPr>
              <a:t>scoring</a:t>
            </a:r>
            <a:r>
              <a:rPr sz="900" b="0" i="0" dirty="0">
                <a:solidFill>
                  <a:srgbClr val="FFFFFF"/>
                </a:solidFill>
                <a:latin typeface="Arial"/>
              </a:rPr>
              <a:t>:
</a:t>
            </a:r>
            <a:r>
              <a:rPr lang="zh-CN" altLang="en-US" sz="900" b="0" i="0" dirty="0">
                <a:solidFill>
                  <a:srgbClr val="FFFFFF"/>
                </a:solidFill>
                <a:latin typeface="Arial"/>
              </a:rPr>
              <a:t>  </a:t>
            </a:r>
            <a:r>
              <a:rPr lang="en-US" altLang="zh-CN" sz="900" b="0" i="0" dirty="0">
                <a:solidFill>
                  <a:srgbClr val="FFFFFF"/>
                </a:solidFill>
                <a:latin typeface="Arial"/>
              </a:rPr>
              <a:t>W</a:t>
            </a:r>
            <a:r>
              <a:rPr lang="en-US" sz="900" dirty="0">
                <a:solidFill>
                  <a:srgbClr val="FFFFFF"/>
                </a:solidFill>
                <a:latin typeface="Arial"/>
              </a:rPr>
              <a:t>hich signals predict repeat-friendly</a:t>
            </a:r>
            <a:r>
              <a:rPr lang="zh-CN" altLang="en-US" sz="900" dirty="0">
                <a:solidFill>
                  <a:srgbClr val="FFFFFF"/>
                </a:solidFill>
                <a:latin typeface="Arial"/>
              </a:rPr>
              <a:t> </a:t>
            </a:r>
            <a:r>
              <a:rPr lang="en-US" sz="900" dirty="0">
                <a:solidFill>
                  <a:srgbClr val="FFFFFF"/>
                </a:solidFill>
                <a:latin typeface="Arial"/>
              </a:rPr>
              <a:t>merchants?</a:t>
            </a:r>
            <a:endParaRPr sz="90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310128" y="2736294"/>
            <a:ext cx="64008" cy="64008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382844" y="2649505"/>
            <a:ext cx="234086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CN" sz="900" dirty="0">
                <a:solidFill>
                  <a:srgbClr val="FFFFFF"/>
                </a:solidFill>
                <a:latin typeface="Arial"/>
              </a:rPr>
              <a:t>User</a:t>
            </a:r>
            <a:r>
              <a:rPr sz="900" b="0" i="0" dirty="0">
                <a:solidFill>
                  <a:srgbClr val="FFFFFF"/>
                </a:solidFill>
                <a:latin typeface="Arial"/>
              </a:rPr>
              <a:t> overlap: </a:t>
            </a:r>
            <a:endParaRPr lang="en-US" sz="900" b="0" i="0" dirty="0">
              <a:solidFill>
                <a:srgbClr val="FFFFFF"/>
              </a:solidFill>
              <a:latin typeface="Arial"/>
            </a:endParaRPr>
          </a:p>
          <a:p>
            <a:pPr algn="l"/>
            <a:r>
              <a:rPr lang="zh-CN" altLang="en-US" sz="900" dirty="0">
                <a:solidFill>
                  <a:srgbClr val="FFFFFF"/>
                </a:solidFill>
                <a:latin typeface="Arial"/>
              </a:rPr>
              <a:t>  </a:t>
            </a:r>
            <a:r>
              <a:rPr lang="en-CN" sz="900" dirty="0">
                <a:solidFill>
                  <a:srgbClr val="FFFFFF"/>
                </a:solidFill>
                <a:latin typeface="Arial"/>
              </a:rPr>
              <a:t>D</a:t>
            </a:r>
            <a:r>
              <a:rPr lang="en-US" sz="900" dirty="0">
                <a:solidFill>
                  <a:srgbClr val="FFFFFF"/>
                </a:solidFill>
                <a:latin typeface="Arial"/>
              </a:rPr>
              <a:t>o retained users over-index on signal-led merchants?</a:t>
            </a:r>
            <a:endParaRPr sz="900" b="0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3310128" y="3435967"/>
            <a:ext cx="2468880" cy="356616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364992" y="3469931"/>
            <a:ext cx="23591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 dirty="0">
                <a:solidFill>
                  <a:schemeClr val="bg1"/>
                </a:solidFill>
                <a:latin typeface="Arial"/>
              </a:rPr>
              <a:t>S&amp;O team builds the bridge
between social data &amp; order data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16752" y="1261872"/>
            <a:ext cx="2724912" cy="2667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016752" y="1261872"/>
            <a:ext cx="2724912" cy="475488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144768" y="1280160"/>
            <a:ext cx="402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/>
              </a:rPr>
              <a:t>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47104" y="1307592"/>
            <a:ext cx="206654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OPERATIONAL USE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44768" y="1892807"/>
            <a:ext cx="64008" cy="64008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245352" y="1819486"/>
            <a:ext cx="24963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CN" sz="900" b="0" i="0" dirty="0">
                <a:solidFill>
                  <a:srgbClr val="FFFFFF"/>
                </a:solidFill>
                <a:latin typeface="Arial"/>
              </a:rPr>
              <a:t>Operational</a:t>
            </a:r>
            <a:r>
              <a:rPr lang="zh-CN" altLang="en-US" sz="90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lang="en-US" altLang="zh-CN" sz="900" b="0" i="0" dirty="0">
                <a:solidFill>
                  <a:srgbClr val="FFFFFF"/>
                </a:solidFill>
                <a:latin typeface="Arial"/>
              </a:rPr>
              <a:t>use</a:t>
            </a:r>
          </a:p>
          <a:p>
            <a:pPr algn="l"/>
            <a:r>
              <a:rPr lang="zh-CN" altLang="en-US" sz="900" b="0" i="0" dirty="0">
                <a:solidFill>
                  <a:srgbClr val="FFFFFF"/>
                </a:solidFill>
                <a:latin typeface="Arial"/>
              </a:rPr>
              <a:t>  </a:t>
            </a:r>
            <a:r>
              <a:rPr sz="900" b="0" i="0" dirty="0">
                <a:solidFill>
                  <a:srgbClr val="FFFFFF"/>
                </a:solidFill>
                <a:latin typeface="Arial"/>
              </a:rPr>
              <a:t>Feature rising merchants in-ap</a:t>
            </a:r>
            <a:r>
              <a:rPr lang="en-CN" sz="900" b="0" i="0" dirty="0">
                <a:solidFill>
                  <a:srgbClr val="FFFFFF"/>
                </a:solidFill>
                <a:latin typeface="Arial"/>
              </a:rPr>
              <a:t>p</a:t>
            </a:r>
            <a:r>
              <a:rPr sz="900" b="0" i="0" dirty="0">
                <a:solidFill>
                  <a:srgbClr val="FFFFFF"/>
                </a:solidFill>
                <a:latin typeface="Arial"/>
              </a:rPr>
              <a:t>
</a:t>
            </a:r>
            <a:r>
              <a:rPr lang="zh-CN" altLang="en-US" sz="900" b="0" i="0" dirty="0">
                <a:solidFill>
                  <a:srgbClr val="FFFFFF"/>
                </a:solidFill>
                <a:latin typeface="Arial"/>
              </a:rPr>
              <a:t>  </a:t>
            </a:r>
            <a:r>
              <a:rPr lang="en-US" sz="900" b="0" i="0" dirty="0">
                <a:solidFill>
                  <a:srgbClr val="FFFFFF"/>
                </a:solidFill>
                <a:latin typeface="Arial"/>
              </a:rPr>
              <a:t>Target CRM nudges before demand peaks</a:t>
            </a:r>
          </a:p>
          <a:p>
            <a:r>
              <a:rPr lang="zh-CN" altLang="en-US" sz="900" b="0" i="0" dirty="0">
                <a:solidFill>
                  <a:srgbClr val="FFFFFF"/>
                </a:solidFill>
                <a:latin typeface="Arial"/>
              </a:rPr>
              <a:t>  </a:t>
            </a:r>
            <a:r>
              <a:rPr lang="en-US" sz="900" b="0" i="0" dirty="0">
                <a:solidFill>
                  <a:srgbClr val="FFFFFF"/>
                </a:solidFill>
                <a:latin typeface="Arial"/>
              </a:rPr>
              <a:t>A/B test: signal-led curation</a:t>
            </a:r>
            <a:r>
              <a:rPr lang="zh-CN" altLang="en-US" sz="90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lang="en-US" sz="900" b="0" i="0" dirty="0">
                <a:solidFill>
                  <a:srgbClr val="FFFFFF"/>
                </a:solidFill>
                <a:latin typeface="Arial"/>
              </a:rPr>
              <a:t>vs. organic discovery cohort</a:t>
            </a:r>
          </a:p>
          <a:p>
            <a:pPr algn="l"/>
            <a:endParaRPr sz="900" b="0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6144768" y="2680312"/>
            <a:ext cx="64008" cy="64008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256782" y="2607131"/>
            <a:ext cx="23408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FFFFFF"/>
                </a:solidFill>
                <a:latin typeface="Arial"/>
              </a:rPr>
              <a:t>KPI</a:t>
            </a:r>
            <a:r>
              <a:rPr lang="en-CN" sz="900" b="0" i="0" dirty="0">
                <a:solidFill>
                  <a:srgbClr val="FFFFFF"/>
                </a:solidFill>
                <a:latin typeface="Arial"/>
              </a:rPr>
              <a:t>s</a:t>
            </a:r>
            <a:r>
              <a:rPr sz="900" b="0" i="0" dirty="0">
                <a:solidFill>
                  <a:srgbClr val="FFFFFF"/>
                </a:solidFill>
                <a:latin typeface="Arial"/>
              </a:rPr>
              <a:t>:</a:t>
            </a:r>
            <a:endParaRPr lang="en-US" sz="900" b="0" i="0" dirty="0">
              <a:solidFill>
                <a:srgbClr val="FFFFFF"/>
              </a:solidFill>
              <a:latin typeface="Arial"/>
            </a:endParaRPr>
          </a:p>
          <a:p>
            <a:pPr algn="l"/>
            <a:r>
              <a:rPr lang="zh-CN" altLang="en-US" sz="900" b="0" i="0" dirty="0">
                <a:solidFill>
                  <a:srgbClr val="FFFFFF"/>
                </a:solidFill>
                <a:latin typeface="Arial"/>
              </a:rPr>
              <a:t>  </a:t>
            </a:r>
            <a:r>
              <a:rPr sz="900" b="0" i="0" dirty="0">
                <a:solidFill>
                  <a:srgbClr val="FFFFFF"/>
                </a:solidFill>
                <a:latin typeface="Arial"/>
              </a:rPr>
              <a:t>2nd-order conversion rate</a:t>
            </a:r>
            <a:endParaRPr lang="en-US" sz="900" b="0" i="0" dirty="0">
              <a:solidFill>
                <a:srgbClr val="FFFFFF"/>
              </a:solidFill>
              <a:latin typeface="Arial"/>
            </a:endParaRPr>
          </a:p>
          <a:p>
            <a:pPr algn="l"/>
            <a:r>
              <a:rPr lang="zh-CN" altLang="en-US" sz="900" dirty="0">
                <a:solidFill>
                  <a:srgbClr val="FFFFFF"/>
                </a:solidFill>
                <a:latin typeface="Arial"/>
              </a:rPr>
              <a:t>  </a:t>
            </a:r>
            <a:r>
              <a:rPr lang="en-US" sz="900" dirty="0">
                <a:solidFill>
                  <a:srgbClr val="FFFFFF"/>
                </a:solidFill>
                <a:latin typeface="Arial"/>
              </a:rPr>
              <a:t>r</a:t>
            </a:r>
            <a:r>
              <a:rPr lang="en-CN" sz="900" b="0" i="0" dirty="0">
                <a:solidFill>
                  <a:srgbClr val="FFFFFF"/>
                </a:solidFill>
                <a:latin typeface="Arial"/>
              </a:rPr>
              <a:t>epeat</a:t>
            </a:r>
            <a:r>
              <a:rPr lang="zh-CN" altLang="en-US" sz="90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lang="en-US" altLang="zh-CN" sz="900" b="0" i="0" dirty="0">
                <a:solidFill>
                  <a:srgbClr val="FFFFFF"/>
                </a:solidFill>
                <a:latin typeface="Arial"/>
              </a:rPr>
              <a:t>rate</a:t>
            </a:r>
            <a:r>
              <a:rPr sz="900" b="0" i="0" dirty="0">
                <a:solidFill>
                  <a:srgbClr val="FFFFFF"/>
                </a:solidFill>
                <a:latin typeface="Arial"/>
              </a:rPr>
              <a:t>
</a:t>
            </a:r>
            <a:r>
              <a:rPr lang="zh-CN" altLang="en-US" sz="900" b="0" i="0" dirty="0">
                <a:solidFill>
                  <a:srgbClr val="FFFFFF"/>
                </a:solidFill>
                <a:latin typeface="Arial"/>
              </a:rPr>
              <a:t>  </a:t>
            </a:r>
            <a:r>
              <a:rPr lang="en-CN" sz="900" dirty="0">
                <a:solidFill>
                  <a:srgbClr val="FFFFFF"/>
                </a:solidFill>
                <a:latin typeface="Arial"/>
              </a:rPr>
              <a:t>merchant</a:t>
            </a:r>
            <a:r>
              <a:rPr lang="zh-CN" altLang="en-US" sz="900" dirty="0">
                <a:solidFill>
                  <a:srgbClr val="FFFFFF"/>
                </a:solidFill>
                <a:latin typeface="Arial"/>
              </a:rPr>
              <a:t> </a:t>
            </a:r>
            <a:r>
              <a:rPr lang="en-US" altLang="zh-CN" sz="900" dirty="0">
                <a:solidFill>
                  <a:srgbClr val="FFFFFF"/>
                </a:solidFill>
                <a:latin typeface="Arial"/>
              </a:rPr>
              <a:t>GMV</a:t>
            </a:r>
            <a:r>
              <a:rPr lang="zh-CN" altLang="en-US" sz="900" dirty="0">
                <a:solidFill>
                  <a:srgbClr val="FFFFFF"/>
                </a:solidFill>
                <a:latin typeface="Arial"/>
              </a:rPr>
              <a:t> </a:t>
            </a:r>
            <a:r>
              <a:rPr lang="en-US" altLang="zh-CN" sz="900" dirty="0">
                <a:solidFill>
                  <a:srgbClr val="FFFFFF"/>
                </a:solidFill>
                <a:latin typeface="Arial"/>
              </a:rPr>
              <a:t>lift</a:t>
            </a:r>
            <a:endParaRPr sz="900" b="0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6144768" y="3417243"/>
            <a:ext cx="2414016" cy="375339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199632" y="3459047"/>
            <a:ext cx="23591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 dirty="0">
                <a:solidFill>
                  <a:schemeClr val="bg1"/>
                </a:solidFill>
                <a:latin typeface="Arial"/>
              </a:rPr>
              <a:t>Closes the loop:
buzz → curation → retention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687250" y="2291471"/>
            <a:ext cx="4859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 dirty="0">
                <a:solidFill>
                  <a:srgbClr val="FFD100"/>
                </a:solidFill>
              </a:rPr>
              <a:t>→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47472" y="4036858"/>
            <a:ext cx="8449056" cy="585216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2064" y="4111752"/>
            <a:ext cx="811987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1" dirty="0">
                <a:solidFill>
                  <a:srgbClr val="000000"/>
                </a:solidFill>
                <a:latin typeface="Arial"/>
              </a:rPr>
              <a:t>Hypothesis: If social buzz leads demand by 3–7 days, Postmates can feature merchants before they peak.</a:t>
            </a:r>
            <a:br>
              <a:rPr lang="en-US" sz="1100" b="1" dirty="0">
                <a:solidFill>
                  <a:srgbClr val="000000"/>
                </a:solidFill>
                <a:latin typeface="Arial"/>
              </a:rPr>
            </a:br>
            <a:r>
              <a:rPr lang="en-US" sz="1100" b="1" dirty="0">
                <a:solidFill>
                  <a:srgbClr val="000000"/>
                </a:solidFill>
                <a:latin typeface="Arial"/>
              </a:rPr>
              <a:t>Business implication: That turns “in the know” from brand intuition into a measurable curation advantage.</a:t>
            </a:r>
            <a:endParaRPr sz="11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0D4EA2C-0D52-7CFE-0987-3DD76A3BA3E2}"/>
              </a:ext>
            </a:extLst>
          </p:cNvPr>
          <p:cNvSpPr txBox="1"/>
          <p:nvPr/>
        </p:nvSpPr>
        <p:spPr>
          <a:xfrm>
            <a:off x="5550409" y="2322576"/>
            <a:ext cx="4859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 dirty="0">
                <a:solidFill>
                  <a:srgbClr val="FFD100"/>
                </a:solidFill>
              </a:rPr>
              <a:t>→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C02EBC0-EEBE-739B-2D4C-5EE21D0F1620}"/>
              </a:ext>
            </a:extLst>
          </p:cNvPr>
          <p:cNvSpPr txBox="1"/>
          <p:nvPr/>
        </p:nvSpPr>
        <p:spPr>
          <a:xfrm>
            <a:off x="694726" y="2208554"/>
            <a:ext cx="23408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CN" sz="900" b="0" i="0" dirty="0">
                <a:solidFill>
                  <a:srgbClr val="FFFFFF"/>
                </a:solidFill>
                <a:latin typeface="Arial"/>
              </a:rPr>
              <a:t>Mention</a:t>
            </a:r>
            <a:r>
              <a:rPr lang="zh-CN" altLang="en-US" sz="90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lang="en-US" altLang="zh-CN" sz="900" b="0" i="0" dirty="0">
                <a:solidFill>
                  <a:srgbClr val="FFFFFF"/>
                </a:solidFill>
                <a:latin typeface="Arial"/>
              </a:rPr>
              <a:t>growth</a:t>
            </a:r>
            <a:endParaRPr sz="900" b="0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B9E40AE-A441-4174-BE07-9DDAE45D27AB}"/>
              </a:ext>
            </a:extLst>
          </p:cNvPr>
          <p:cNvSpPr txBox="1"/>
          <p:nvPr/>
        </p:nvSpPr>
        <p:spPr>
          <a:xfrm>
            <a:off x="701991" y="2547642"/>
            <a:ext cx="23408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CN" sz="900" dirty="0">
                <a:solidFill>
                  <a:srgbClr val="FFFFFF"/>
                </a:solidFill>
                <a:latin typeface="Arial"/>
              </a:rPr>
              <a:t>E</a:t>
            </a:r>
            <a:r>
              <a:rPr sz="900" b="0" i="0" dirty="0">
                <a:solidFill>
                  <a:srgbClr val="FFFFFF"/>
                </a:solidFill>
                <a:latin typeface="Arial"/>
              </a:rPr>
              <a:t>vent &amp; pop-up spikes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4003137-BD9E-F95B-92B9-6D24E0201D07}"/>
              </a:ext>
            </a:extLst>
          </p:cNvPr>
          <p:cNvSpPr txBox="1"/>
          <p:nvPr/>
        </p:nvSpPr>
        <p:spPr>
          <a:xfrm>
            <a:off x="701991" y="2702870"/>
            <a:ext cx="23408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dirty="0">
                <a:solidFill>
                  <a:srgbClr val="FFFFFF"/>
                </a:solidFill>
                <a:latin typeface="Arial"/>
              </a:rPr>
              <a:t>N</a:t>
            </a:r>
            <a:r>
              <a:rPr lang="en-CN" sz="900" dirty="0">
                <a:solidFill>
                  <a:srgbClr val="FFFFFF"/>
                </a:solidFill>
                <a:latin typeface="Arial"/>
              </a:rPr>
              <a:t>eighborhood</a:t>
            </a:r>
            <a:r>
              <a:rPr lang="zh-CN" altLang="en-US" sz="900" dirty="0">
                <a:solidFill>
                  <a:srgbClr val="FFFFFF"/>
                </a:solidFill>
                <a:latin typeface="Arial"/>
              </a:rPr>
              <a:t> </a:t>
            </a:r>
            <a:r>
              <a:rPr lang="en-US" altLang="zh-CN" sz="900" dirty="0">
                <a:solidFill>
                  <a:srgbClr val="FFFFFF"/>
                </a:solidFill>
                <a:latin typeface="Arial"/>
              </a:rPr>
              <a:t>buzz</a:t>
            </a:r>
            <a:endParaRPr sz="900" b="0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33E38D1-0D21-C278-16B3-49B241F38214}"/>
              </a:ext>
            </a:extLst>
          </p:cNvPr>
          <p:cNvSpPr txBox="1"/>
          <p:nvPr/>
        </p:nvSpPr>
        <p:spPr>
          <a:xfrm>
            <a:off x="694726" y="3045422"/>
            <a:ext cx="23408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0" i="0" dirty="0">
                <a:solidFill>
                  <a:srgbClr val="FFFFFF"/>
                </a:solidFill>
                <a:latin typeface="Arial"/>
              </a:rPr>
              <a:t>New</a:t>
            </a:r>
            <a:r>
              <a:rPr lang="zh-CN" altLang="en-US" sz="90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lang="en-US" altLang="zh-CN" sz="900" b="0" i="0" dirty="0">
                <a:solidFill>
                  <a:srgbClr val="FFFFFF"/>
                </a:solidFill>
                <a:latin typeface="Arial"/>
              </a:rPr>
              <a:t>openings</a:t>
            </a:r>
            <a:endParaRPr sz="900" b="0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4434FC5-5FCD-DBD8-48D2-1E597F555BAA}"/>
              </a:ext>
            </a:extLst>
          </p:cNvPr>
          <p:cNvSpPr txBox="1"/>
          <p:nvPr/>
        </p:nvSpPr>
        <p:spPr>
          <a:xfrm>
            <a:off x="682931" y="3191105"/>
            <a:ext cx="23408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dirty="0">
                <a:solidFill>
                  <a:srgbClr val="FFFFFF"/>
                </a:solidFill>
                <a:latin typeface="Arial"/>
              </a:rPr>
              <a:t>Trending</a:t>
            </a:r>
            <a:r>
              <a:rPr lang="zh-CN" altLang="en-US" sz="900" dirty="0">
                <a:solidFill>
                  <a:srgbClr val="FFFFFF"/>
                </a:solidFill>
                <a:latin typeface="Arial"/>
              </a:rPr>
              <a:t> </a:t>
            </a:r>
            <a:r>
              <a:rPr lang="en-US" altLang="zh-CN" sz="900" dirty="0">
                <a:solidFill>
                  <a:srgbClr val="FFFFFF"/>
                </a:solidFill>
                <a:latin typeface="Arial"/>
              </a:rPr>
              <a:t>merchants</a:t>
            </a:r>
            <a:endParaRPr sz="900" b="0" i="0" dirty="0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46044"/>
            <a:ext cx="85539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CN" sz="2800" b="1" i="0" dirty="0">
                <a:solidFill>
                  <a:srgbClr val="FFD100"/>
                </a:solidFill>
                <a:latin typeface="Arial"/>
              </a:rPr>
              <a:t>From</a:t>
            </a:r>
            <a:r>
              <a:rPr lang="zh-CN" altLang="en-US" sz="2800" b="1" i="0" dirty="0">
                <a:solidFill>
                  <a:srgbClr val="FFD100"/>
                </a:solidFill>
                <a:latin typeface="Arial"/>
              </a:rPr>
              <a:t> </a:t>
            </a:r>
            <a:r>
              <a:rPr sz="2800" b="1" i="0" dirty="0">
                <a:solidFill>
                  <a:srgbClr val="FFD100"/>
                </a:solidFill>
                <a:latin typeface="Arial"/>
              </a:rPr>
              <a:t>P</a:t>
            </a:r>
            <a:r>
              <a:rPr lang="en-CN" sz="2800" b="1" dirty="0">
                <a:solidFill>
                  <a:srgbClr val="FFD100"/>
                </a:solidFill>
                <a:latin typeface="Arial"/>
              </a:rPr>
              <a:t>OSTMATE</a:t>
            </a:r>
            <a:r>
              <a:rPr sz="2800" b="1" i="0" dirty="0">
                <a:solidFill>
                  <a:srgbClr val="FFD100"/>
                </a:solidFill>
                <a:latin typeface="Arial"/>
              </a:rPr>
              <a:t> </a:t>
            </a:r>
            <a:r>
              <a:rPr lang="en-CN" sz="2800" b="1" dirty="0">
                <a:solidFill>
                  <a:srgbClr val="FFD100"/>
                </a:solidFill>
                <a:latin typeface="Arial"/>
              </a:rPr>
              <a:t>IT</a:t>
            </a:r>
            <a:r>
              <a:rPr lang="zh-CN" altLang="en-US" sz="2800" b="1" i="0" dirty="0">
                <a:solidFill>
                  <a:srgbClr val="FFD100"/>
                </a:solidFill>
                <a:latin typeface="Arial"/>
              </a:rPr>
              <a:t> </a:t>
            </a:r>
            <a:r>
              <a:rPr lang="en-US" altLang="zh-CN" sz="2800" b="1" i="0" dirty="0">
                <a:solidFill>
                  <a:srgbClr val="FFD100"/>
                </a:solidFill>
                <a:latin typeface="Arial"/>
              </a:rPr>
              <a:t>to</a:t>
            </a:r>
            <a:r>
              <a:rPr lang="zh-CN" altLang="en-US" sz="2800" b="1" i="0" dirty="0">
                <a:solidFill>
                  <a:srgbClr val="FFD100"/>
                </a:solidFill>
                <a:latin typeface="Arial"/>
              </a:rPr>
              <a:t> </a:t>
            </a:r>
            <a:r>
              <a:rPr lang="en-US" altLang="zh-CN" sz="2800" b="1" i="0" dirty="0">
                <a:solidFill>
                  <a:srgbClr val="FFD100"/>
                </a:solidFill>
                <a:latin typeface="Arial"/>
              </a:rPr>
              <a:t>POSTMATE</a:t>
            </a:r>
            <a:r>
              <a:rPr lang="zh-CN" altLang="en-US" sz="2800" b="1" i="0" dirty="0">
                <a:solidFill>
                  <a:srgbClr val="FFD100"/>
                </a:solidFill>
                <a:latin typeface="Arial"/>
              </a:rPr>
              <a:t> </a:t>
            </a:r>
            <a:r>
              <a:rPr lang="en-US" altLang="zh-CN" sz="2800" b="1" dirty="0">
                <a:solidFill>
                  <a:srgbClr val="FFD100"/>
                </a:solidFill>
                <a:latin typeface="Arial"/>
              </a:rPr>
              <a:t>IT</a:t>
            </a:r>
            <a:r>
              <a:rPr lang="zh-CN" altLang="en-US" sz="2800" b="1" i="0" dirty="0">
                <a:solidFill>
                  <a:srgbClr val="FFD100"/>
                </a:solidFill>
                <a:latin typeface="Arial"/>
              </a:rPr>
              <a:t> </a:t>
            </a:r>
            <a:r>
              <a:rPr lang="en-US" altLang="zh-CN" sz="2800" b="1" dirty="0">
                <a:solidFill>
                  <a:srgbClr val="FFD100"/>
                </a:solidFill>
                <a:latin typeface="Arial"/>
              </a:rPr>
              <a:t>AGAIN</a:t>
            </a:r>
            <a:endParaRPr sz="2800" b="1" i="0" dirty="0">
              <a:solidFill>
                <a:srgbClr val="FFD100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 dirty="0">
                <a:solidFill>
                  <a:srgbClr val="FFFFFF"/>
                </a:solidFill>
                <a:latin typeface="Arial"/>
              </a:rPr>
              <a:t>Three bets, ranked by speed-to-signal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72768"/>
            <a:ext cx="8321040" cy="36576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664208"/>
            <a:ext cx="2724912" cy="316382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664208"/>
            <a:ext cx="2724912" cy="98755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0936" y="1719072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" y="2103120"/>
            <a:ext cx="24688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000000"/>
                </a:solidFill>
                <a:latin typeface="Arial"/>
              </a:rPr>
              <a:t>Second-Order</a:t>
            </a:r>
            <a:r>
              <a:rPr lang="zh-CN" altLang="en-US" sz="1200" b="1" i="0" dirty="0">
                <a:solidFill>
                  <a:srgbClr val="000000"/>
                </a:solidFill>
                <a:latin typeface="Arial"/>
              </a:rPr>
              <a:t> </a:t>
            </a:r>
            <a:r>
              <a:rPr sz="1200" b="1" i="0" dirty="0">
                <a:solidFill>
                  <a:srgbClr val="000000"/>
                </a:solidFill>
                <a:latin typeface="Arial"/>
              </a:rPr>
              <a:t>Activation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2743200"/>
            <a:ext cx="24688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00"/>
                </a:solidFill>
                <a:latin typeface="Arial"/>
              </a:rPr>
              <a:t>WHAT TO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" y="2980944"/>
            <a:ext cx="2468880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FFFFFF"/>
                </a:solidFill>
                <a:latin typeface="Arial"/>
              </a:rPr>
              <a:t>A/B test: generic discount vs. local merchant rec vs. reorder nudge — triggered 48 </a:t>
            </a:r>
            <a:r>
              <a:rPr sz="1050" b="0" i="0" dirty="0" err="1">
                <a:solidFill>
                  <a:srgbClr val="FFFFFF"/>
                </a:solidFill>
                <a:latin typeface="Arial"/>
              </a:rPr>
              <a:t>hrs</a:t>
            </a:r>
            <a:r>
              <a:rPr sz="1050" b="0" i="0" dirty="0">
                <a:solidFill>
                  <a:srgbClr val="FFFFFF"/>
                </a:solidFill>
                <a:latin typeface="Arial"/>
              </a:rPr>
              <a:t> post-first-order.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" y="3849624"/>
            <a:ext cx="24688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FFD100"/>
                </a:solidFill>
                <a:latin typeface="Arial"/>
              </a:rPr>
              <a:t>KPI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" y="4069080"/>
            <a:ext cx="246888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FFFFFF"/>
                </a:solidFill>
                <a:latin typeface="Arial"/>
              </a:rPr>
              <a:t>2nd-order conversion rate</a:t>
            </a:r>
            <a:endParaRPr lang="en-CN" sz="1050" dirty="0">
              <a:solidFill>
                <a:srgbClr val="FFFFFF"/>
              </a:solidFill>
              <a:latin typeface="Arial"/>
            </a:endParaRPr>
          </a:p>
          <a:p>
            <a:pPr algn="l"/>
            <a:r>
              <a:rPr sz="1050" b="0" i="0" dirty="0">
                <a:solidFill>
                  <a:srgbClr val="FFFFFF"/>
                </a:solidFill>
                <a:latin typeface="Arial"/>
              </a:rPr>
              <a:t>time-to-2nd-order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95728" y="4517136"/>
            <a:ext cx="777240" cy="23774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395728" y="4535424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4 wks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19272" y="1664208"/>
            <a:ext cx="2724912" cy="316382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319272" y="1664208"/>
            <a:ext cx="2724912" cy="98755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47288" y="1719072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Arial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47288" y="2103120"/>
            <a:ext cx="24688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000000"/>
                </a:solidFill>
                <a:latin typeface="Arial"/>
              </a:rPr>
              <a:t>Local Discovery</a:t>
            </a:r>
            <a:r>
              <a:rPr lang="zh-CN" altLang="en-US" sz="1200" b="1" i="0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200" b="1" i="0" dirty="0">
                <a:solidFill>
                  <a:srgbClr val="000000"/>
                </a:solidFill>
                <a:latin typeface="Arial"/>
              </a:rPr>
              <a:t>Merchandising</a:t>
            </a:r>
            <a:endParaRPr sz="1200" b="1" i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447288" y="2743200"/>
            <a:ext cx="24688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00"/>
                </a:solidFill>
                <a:latin typeface="Arial"/>
              </a:rPr>
              <a:t>WHAT TO 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47288" y="2980944"/>
            <a:ext cx="24688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Increase local + trend merchant exposure in first 30 days. Test discovery-oriented supply vs. control cohort.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47288" y="3849624"/>
            <a:ext cx="24688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00"/>
                </a:solidFill>
                <a:latin typeface="Arial"/>
              </a:rPr>
              <a:t>KPI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47288" y="4069080"/>
            <a:ext cx="246888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FFFFFF"/>
                </a:solidFill>
                <a:latin typeface="Arial"/>
              </a:rPr>
              <a:t>30D repeat rate </a:t>
            </a:r>
            <a:endParaRPr lang="en-US" sz="1050" dirty="0">
              <a:solidFill>
                <a:srgbClr val="FFFFFF"/>
              </a:solidFill>
              <a:latin typeface="Arial"/>
            </a:endParaRPr>
          </a:p>
          <a:p>
            <a:pPr algn="l"/>
            <a:r>
              <a:rPr sz="1050" b="0" i="0" dirty="0">
                <a:solidFill>
                  <a:srgbClr val="FFFFFF"/>
                </a:solidFill>
                <a:latin typeface="Arial"/>
              </a:rPr>
              <a:t>local merchant order share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12080" y="4517136"/>
            <a:ext cx="777240" cy="23774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212080" y="4535424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6 wks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35624" y="1664208"/>
            <a:ext cx="2724912" cy="316382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35624" y="1664208"/>
            <a:ext cx="2724912" cy="98755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63640" y="1719072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Arial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2103120"/>
            <a:ext cx="24688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000000"/>
                </a:solidFill>
                <a:latin typeface="Arial"/>
              </a:rPr>
              <a:t>Social Signal Scoring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2743200"/>
            <a:ext cx="24688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00"/>
                </a:solidFill>
                <a:latin typeface="Arial"/>
              </a:rPr>
              <a:t>WHAT TO TEST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2980944"/>
            <a:ext cx="24688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Score merchant trend velocity using social buzz + creator data (Google Gemini / API). Target CRM nudges to rising merchants.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3849624"/>
            <a:ext cx="24688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00"/>
                </a:solidFill>
                <a:latin typeface="Arial"/>
              </a:rPr>
              <a:t>KPI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79138" y="4069080"/>
            <a:ext cx="246888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FFFFFF"/>
                </a:solidFill>
                <a:latin typeface="Arial"/>
              </a:rPr>
              <a:t>Signal-to-order lead time</a:t>
            </a:r>
            <a:endParaRPr lang="en-US" sz="1050" b="0" i="0" dirty="0">
              <a:solidFill>
                <a:srgbClr val="FFFFFF"/>
              </a:solidFill>
              <a:latin typeface="Arial"/>
            </a:endParaRPr>
          </a:p>
          <a:p>
            <a:pPr algn="l"/>
            <a:r>
              <a:rPr sz="1050" b="0" i="0" dirty="0">
                <a:solidFill>
                  <a:srgbClr val="FFFFFF"/>
                </a:solidFill>
                <a:latin typeface="Arial"/>
              </a:rPr>
              <a:t>cohort repeat rate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28431" y="4517136"/>
            <a:ext cx="777240" cy="23774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028431" y="4535424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8 wks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47472" y="146304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00"/>
                </a:solidFill>
                <a:latin typeface="Arial"/>
              </a:rPr>
              <a:t>HOW THIS WAS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378468"/>
            <a:ext cx="84124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CN" sz="2200" b="1" i="0" dirty="0">
                <a:solidFill>
                  <a:srgbClr val="000000"/>
                </a:solidFill>
                <a:latin typeface="Arial"/>
              </a:rPr>
              <a:t>How</a:t>
            </a:r>
            <a:r>
              <a:rPr lang="zh-CN" altLang="en-US" sz="2200" b="1" i="0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altLang="zh-CN" sz="2200" b="1" i="0" dirty="0">
                <a:solidFill>
                  <a:srgbClr val="000000"/>
                </a:solidFill>
                <a:latin typeface="Arial"/>
              </a:rPr>
              <a:t>I</a:t>
            </a:r>
            <a:r>
              <a:rPr lang="zh-CN" altLang="en-US" sz="2200" b="1" i="0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altLang="zh-CN" sz="2200" b="1" i="0" dirty="0">
                <a:solidFill>
                  <a:srgbClr val="000000"/>
                </a:solidFill>
                <a:latin typeface="Arial"/>
              </a:rPr>
              <a:t>built</a:t>
            </a:r>
            <a:r>
              <a:rPr lang="zh-CN" altLang="en-US" sz="2200" b="1" i="0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altLang="zh-CN" sz="2200" b="1" i="0" dirty="0">
                <a:solidFill>
                  <a:srgbClr val="000000"/>
                </a:solidFill>
                <a:latin typeface="Arial"/>
              </a:rPr>
              <a:t>this</a:t>
            </a:r>
            <a:r>
              <a:rPr lang="zh-CN" altLang="en-US" sz="2200" b="1" i="0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altLang="zh-CN" sz="2200" b="1" i="0" dirty="0">
                <a:solidFill>
                  <a:srgbClr val="000000"/>
                </a:solidFill>
                <a:latin typeface="Arial"/>
              </a:rPr>
              <a:t>case</a:t>
            </a:r>
            <a:endParaRPr sz="2200" b="1" i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47472" y="1115568"/>
            <a:ext cx="8449056" cy="36576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47472" y="1261872"/>
            <a:ext cx="1993392" cy="27432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47472" y="1261872"/>
            <a:ext cx="1993392" cy="5120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685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47088"/>
            <a:ext cx="17739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FFD100"/>
                </a:solidFill>
                <a:latin typeface="Arial"/>
              </a:rPr>
              <a:t>Schema
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40864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Designed 4 linked SQL-compatible tables: users, merchants, orders, monthly metrics — mirroring real S&amp;O data models with realistic distributions.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585754"/>
            <a:ext cx="1773936" cy="2743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2064" y="3560500"/>
            <a:ext cx="16642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chemeClr val="bg1"/>
                </a:solidFill>
                <a:latin typeface="Arial"/>
              </a:rPr>
              <a:t>Custom synthetic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0008" y="2487168"/>
            <a:ext cx="9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100"/>
                </a:solidFill>
                <a:latin typeface="Arial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23160" y="1261872"/>
            <a:ext cx="1993392" cy="27432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423160" y="1261872"/>
            <a:ext cx="1993392" cy="5120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32888" y="1280160"/>
            <a:ext cx="57607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000000"/>
                </a:solidFill>
                <a:latin typeface="Arial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32888" y="1847088"/>
            <a:ext cx="17739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00"/>
                </a:solidFill>
                <a:latin typeface="Arial"/>
              </a:rPr>
              <a:t>SQL
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32888" y="2340864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Wrote retention queries: 30-day cohort analysis, segment-level repeat behavior, promo dependency, merchant mix breakdowns.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32888" y="3585754"/>
            <a:ext cx="1773936" cy="2743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587752" y="3560500"/>
            <a:ext cx="17190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dirty="0">
                <a:solidFill>
                  <a:schemeClr val="bg1"/>
                </a:solidFill>
                <a:latin typeface="Arial"/>
              </a:rPr>
              <a:t>SQL · cohort / segment analysis</a:t>
            </a:r>
            <a:endParaRPr sz="1000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425696" y="2487168"/>
            <a:ext cx="9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100"/>
                </a:solidFill>
                <a:latin typeface="Arial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98848" y="1261872"/>
            <a:ext cx="1993392" cy="27432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98848" y="1261872"/>
            <a:ext cx="1993392" cy="5120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08576" y="1280160"/>
            <a:ext cx="57607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000000"/>
                </a:solidFill>
                <a:latin typeface="Arial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08576" y="1847088"/>
            <a:ext cx="177393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FFD100"/>
                </a:solidFill>
                <a:latin typeface="Arial"/>
              </a:rPr>
              <a:t>Python
&amp; </a:t>
            </a:r>
            <a:r>
              <a:rPr lang="en-US" altLang="zh-CN" sz="1300" b="1" dirty="0">
                <a:solidFill>
                  <a:srgbClr val="FFD100"/>
                </a:solidFill>
                <a:latin typeface="Arial"/>
              </a:rPr>
              <a:t>visualization</a:t>
            </a:r>
            <a:endParaRPr sz="1300" b="1" i="0" dirty="0">
              <a:solidFill>
                <a:srgbClr val="FFD100"/>
              </a:solidFill>
              <a:latin typeface="Arial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608576" y="2340864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Processed query outputs, built segment aggregations, generated Matplotlib charts styled for brand clarity and data legibility.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08576" y="3585754"/>
            <a:ext cx="1773936" cy="2743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63440" y="3560500"/>
            <a:ext cx="17922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chemeClr val="bg1"/>
                </a:solidFill>
                <a:latin typeface="Arial"/>
              </a:rPr>
              <a:t>pandas · matplotlib ·</a:t>
            </a:r>
            <a:r>
              <a:rPr lang="zh-CN" altLang="en-US" sz="1000" b="0" i="0" dirty="0">
                <a:solidFill>
                  <a:schemeClr val="bg1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chemeClr val="bg1"/>
                </a:solidFill>
                <a:latin typeface="Arial"/>
              </a:rPr>
              <a:t>numpy</a:t>
            </a:r>
            <a:endParaRPr sz="1000" b="0" i="0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501383" y="2487168"/>
            <a:ext cx="9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100"/>
                </a:solidFill>
                <a:latin typeface="Arial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74536" y="1261872"/>
            <a:ext cx="1993392" cy="27432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574536" y="1261872"/>
            <a:ext cx="1993392" cy="5120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84264" y="1280160"/>
            <a:ext cx="62005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Arial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84264" y="1847088"/>
            <a:ext cx="189280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FFD100"/>
                </a:solidFill>
                <a:latin typeface="Arial"/>
              </a:rPr>
              <a:t>Strategic</a:t>
            </a:r>
            <a:r>
              <a:rPr lang="zh-CN" altLang="en-US" sz="1300" b="1" i="0" dirty="0">
                <a:solidFill>
                  <a:srgbClr val="FFD100"/>
                </a:solidFill>
                <a:latin typeface="Arial"/>
              </a:rPr>
              <a:t> </a:t>
            </a:r>
            <a:r>
              <a:rPr sz="1300" b="1" i="0" dirty="0">
                <a:solidFill>
                  <a:srgbClr val="FFD100"/>
                </a:solidFill>
                <a:latin typeface="Arial"/>
              </a:rPr>
              <a:t>Narrative</a:t>
            </a:r>
            <a:r>
              <a:rPr lang="zh-CN" altLang="en-US" sz="1300" b="1" i="0" dirty="0">
                <a:solidFill>
                  <a:srgbClr val="FFD100"/>
                </a:solidFill>
                <a:latin typeface="Arial"/>
              </a:rPr>
              <a:t> </a:t>
            </a:r>
            <a:endParaRPr lang="en-US" altLang="zh-CN" sz="1300" b="1" i="0" dirty="0">
              <a:solidFill>
                <a:srgbClr val="FFD100"/>
              </a:solidFill>
              <a:latin typeface="Arial"/>
            </a:endParaRPr>
          </a:p>
          <a:p>
            <a:pPr algn="l"/>
            <a:r>
              <a:rPr lang="en-US" altLang="zh-CN" sz="1300" b="1" i="0" dirty="0">
                <a:solidFill>
                  <a:srgbClr val="FFD100"/>
                </a:solidFill>
                <a:latin typeface="Arial"/>
              </a:rPr>
              <a:t>+</a:t>
            </a:r>
            <a:r>
              <a:rPr lang="zh-CN" altLang="en-US" sz="1300" b="1" i="0" dirty="0">
                <a:solidFill>
                  <a:srgbClr val="FFD100"/>
                </a:solidFill>
                <a:latin typeface="Arial"/>
              </a:rPr>
              <a:t> </a:t>
            </a:r>
            <a:r>
              <a:rPr lang="en-US" altLang="zh-CN" sz="1300" b="1" i="0" dirty="0">
                <a:solidFill>
                  <a:srgbClr val="FFD100"/>
                </a:solidFill>
                <a:latin typeface="Arial"/>
              </a:rPr>
              <a:t>AI</a:t>
            </a:r>
            <a:r>
              <a:rPr lang="zh-CN" altLang="en-US" sz="1300" b="1" i="0" dirty="0">
                <a:solidFill>
                  <a:srgbClr val="FFD100"/>
                </a:solidFill>
                <a:latin typeface="Arial"/>
              </a:rPr>
              <a:t> </a:t>
            </a:r>
            <a:r>
              <a:rPr lang="en-US" altLang="zh-CN" sz="1300" b="1" i="0" dirty="0">
                <a:solidFill>
                  <a:srgbClr val="FFD100"/>
                </a:solidFill>
                <a:latin typeface="Arial"/>
              </a:rPr>
              <a:t>Workflow</a:t>
            </a:r>
            <a:endParaRPr sz="1300" b="1" i="0" dirty="0">
              <a:solidFill>
                <a:srgbClr val="FFD100"/>
              </a:solidFill>
              <a:latin typeface="Arial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684264" y="2340864"/>
            <a:ext cx="177393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dirty="0">
                <a:solidFill>
                  <a:srgbClr val="FFFFFF"/>
                </a:solidFill>
                <a:latin typeface="Arial"/>
              </a:rPr>
              <a:t>Translated analysis into an Uber-style business review narrative. Used AI to refine hypotheses, wording, and deck structure.</a:t>
            </a:r>
            <a:endParaRPr sz="100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684264" y="3585754"/>
            <a:ext cx="1773936" cy="2743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641154" y="3560500"/>
            <a:ext cx="204564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000" b="0" i="0" dirty="0">
                <a:solidFill>
                  <a:schemeClr val="bg1"/>
                </a:solidFill>
                <a:latin typeface="Arial"/>
              </a:rPr>
              <a:t>presentation</a:t>
            </a:r>
            <a:r>
              <a:rPr lang="en-US" sz="1000" b="0" i="0" dirty="0">
                <a:solidFill>
                  <a:schemeClr val="bg1"/>
                </a:solidFill>
                <a:latin typeface="Arial"/>
              </a:rPr>
              <a:t> · S&amp;O storytelling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7472" y="4151376"/>
            <a:ext cx="8220456" cy="658368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12064" y="4215384"/>
            <a:ext cx="811987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000000"/>
                </a:solidFill>
                <a:latin typeface="Arial"/>
              </a:rPr>
              <a:t>Skills: </a:t>
            </a:r>
            <a:endParaRPr lang="en-US" sz="1100" b="1" i="0" dirty="0">
              <a:solidFill>
                <a:srgbClr val="000000"/>
              </a:solidFill>
              <a:latin typeface="Arial"/>
            </a:endParaRPr>
          </a:p>
          <a:p>
            <a:pPr algn="l"/>
            <a:r>
              <a:rPr lang="en-US" sz="1100" b="1" dirty="0">
                <a:solidFill>
                  <a:srgbClr val="000000"/>
                </a:solidFill>
                <a:latin typeface="Arial"/>
              </a:rPr>
              <a:t>SQL · Python (pandas, matplotlib) · Data modeling · </a:t>
            </a:r>
            <a:r>
              <a:rPr lang="en-US" altLang="zh-CN" sz="1100" b="1" dirty="0">
                <a:solidFill>
                  <a:srgbClr val="000000"/>
                </a:solidFill>
                <a:latin typeface="Arial"/>
              </a:rPr>
              <a:t>Business</a:t>
            </a:r>
            <a:r>
              <a:rPr lang="en-US" sz="1100" b="1" dirty="0">
                <a:solidFill>
                  <a:srgbClr val="000000"/>
                </a:solidFill>
                <a:latin typeface="Arial"/>
              </a:rPr>
              <a:t> storytelling · AI-assisted workflow design</a:t>
            </a:r>
            <a:endParaRPr sz="1100" b="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881</Words>
  <Application>Microsoft Macintosh PowerPoint</Application>
  <PresentationFormat>On-screen Show (16:9)</PresentationFormat>
  <Paragraphs>141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-apple-system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Lizhong Wang</cp:lastModifiedBy>
  <cp:revision>2</cp:revision>
  <dcterms:created xsi:type="dcterms:W3CDTF">2013-01-27T09:14:16Z</dcterms:created>
  <dcterms:modified xsi:type="dcterms:W3CDTF">2026-04-05T08:22:41Z</dcterms:modified>
  <cp:category/>
</cp:coreProperties>
</file>